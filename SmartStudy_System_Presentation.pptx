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 err="1">
                <a:solidFill>
                  <a:srgbClr val="00B0F0"/>
                </a:solidFill>
              </a:rPr>
              <a:t>SmartStudy</a:t>
            </a:r>
            <a:r>
              <a:rPr b="1" dirty="0">
                <a:solidFill>
                  <a:srgbClr val="00B0F0"/>
                </a:solidFill>
              </a:rPr>
              <a:t> Agent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A Multi-Agent System (MAS) for Personalized Education</a:t>
            </a:r>
          </a:p>
          <a:p>
            <a:r>
              <a:rPr b="1" dirty="0">
                <a:solidFill>
                  <a:schemeClr val="accent6">
                    <a:lumMod val="75000"/>
                  </a:schemeClr>
                </a:solidFill>
              </a:rPr>
              <a:t>Presented by: Haile Tassew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Definitions &amp;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b="1" dirty="0"/>
          </a:p>
          <a:p>
            <a:pPr>
              <a:defRPr sz="1800"/>
            </a:pPr>
            <a:r>
              <a:rPr b="1" dirty="0">
                <a:solidFill>
                  <a:srgbClr val="00B0F0"/>
                </a:solidFill>
              </a:rPr>
              <a:t>Multi-Agent System (MAS): </a:t>
            </a:r>
            <a:r>
              <a:rPr b="1" dirty="0"/>
              <a:t>A loosely coupled network of agents that interact to solve problems beyond individual capabilities.</a:t>
            </a:r>
          </a:p>
          <a:p>
            <a:pPr>
              <a:defRPr sz="1800"/>
            </a:pPr>
            <a:r>
              <a:rPr b="1" dirty="0">
                <a:solidFill>
                  <a:srgbClr val="00B0F0"/>
                </a:solidFill>
              </a:rPr>
              <a:t>Intelligent Agent: </a:t>
            </a:r>
            <a:r>
              <a:rPr b="1" dirty="0"/>
              <a:t>An autonomous entity that perceives its environment and acts to achieve specific goals.</a:t>
            </a:r>
          </a:p>
          <a:p>
            <a:pPr>
              <a:defRPr sz="1800"/>
            </a:pPr>
            <a:r>
              <a:rPr b="1" dirty="0">
                <a:solidFill>
                  <a:srgbClr val="00B0F0"/>
                </a:solidFill>
              </a:rPr>
              <a:t>Large Language Model (LLM): </a:t>
            </a:r>
            <a:r>
              <a:rPr b="1" dirty="0"/>
              <a:t>The cognitive engine (Gemini) providing reasoning, natural language understanding, and generation.</a:t>
            </a:r>
          </a:p>
          <a:p>
            <a:pPr>
              <a:defRPr sz="1800"/>
            </a:pPr>
            <a:r>
              <a:rPr b="1" dirty="0" err="1">
                <a:solidFill>
                  <a:srgbClr val="00B0F0"/>
                </a:solidFill>
              </a:rPr>
              <a:t>CrewAI</a:t>
            </a:r>
            <a:r>
              <a:rPr b="1" dirty="0">
                <a:solidFill>
                  <a:srgbClr val="00B0F0"/>
                </a:solidFill>
              </a:rPr>
              <a:t>: </a:t>
            </a:r>
            <a:r>
              <a:rPr b="1" dirty="0"/>
              <a:t>The orchestration framework enabling role-playing, delegation, and structured collaboration between agents.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err="1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S</a:t>
            </a:r>
            <a:r>
              <a:rPr lang="en-US" sz="44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martStudy</a:t>
            </a:r>
            <a:r>
              <a:rPr lang="en-US" sz="4400" b="1" i="0" dirty="0">
                <a:solidFill>
                  <a:schemeClr val="accent6">
                    <a:lumMod val="75000"/>
                  </a:schemeClr>
                </a:solidFill>
                <a:effectLst/>
                <a:latin typeface="-apple-system"/>
              </a:rPr>
              <a:t> Agent 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</a:rPr>
              <a:t>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b="1" dirty="0"/>
          </a:p>
          <a:p>
            <a:pPr marL="0" indent="0">
              <a:buNone/>
              <a:defRPr sz="1800"/>
            </a:pPr>
            <a:r>
              <a:rPr lang="en-US" b="1" dirty="0">
                <a:solidFill>
                  <a:srgbClr val="00B0F0"/>
                </a:solidFill>
                <a:latin typeface="-apple-system"/>
              </a:rPr>
              <a:t>						</a:t>
            </a:r>
            <a:endParaRPr lang="en-US" sz="2800" b="1" i="0" dirty="0">
              <a:solidFill>
                <a:schemeClr val="accent6">
                  <a:lumMod val="75000"/>
                </a:schemeClr>
              </a:solidFill>
              <a:effectLst/>
              <a:latin typeface="-apple-system"/>
            </a:endParaRPr>
          </a:p>
          <a:p>
            <a:pPr>
              <a:defRPr sz="1800"/>
            </a:pPr>
            <a:r>
              <a:rPr lang="en-US" b="1" i="0" dirty="0">
                <a:solidFill>
                  <a:srgbClr val="00B0F0"/>
                </a:solidFill>
                <a:effectLst/>
                <a:latin typeface="-apple-system"/>
              </a:rPr>
              <a:t>is Multi-Agent System (MAS) designed By orchestrating a fleet of 6 specialized AI agents, it transforms raw, disorganized study materials (PDFs, PPTXs, Notes) into highly structured, actionable, and exam-focused learning roadmaps.</a:t>
            </a:r>
            <a:endParaRPr lang="en-US" b="1" dirty="0"/>
          </a:p>
          <a:p>
            <a:pPr>
              <a:defRPr sz="1800"/>
            </a:pPr>
            <a:r>
              <a:rPr b="1" dirty="0"/>
              <a:t>Flow: Inputs (Notes/Topic) -&gt; Processing Chain -&gt; Unified Output (Report).</a:t>
            </a:r>
          </a:p>
          <a:p>
            <a:pPr>
              <a:defRPr sz="1800"/>
            </a:pPr>
            <a:r>
              <a:rPr b="1" dirty="0"/>
              <a:t>Splitting the cognitive load across specialized roles (Writer, Researcher, Analyst).</a:t>
            </a: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6">
                    <a:lumMod val="75000"/>
                  </a:schemeClr>
                </a:solidFill>
              </a:rPr>
              <a:t>The 6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b="1" dirty="0"/>
          </a:p>
          <a:p>
            <a:pPr>
              <a:defRPr sz="1800"/>
            </a:pPr>
            <a:r>
              <a:rPr b="1" dirty="0"/>
              <a:t>1. Note Summarizer: The 'Reviewer' - Distills raw content.</a:t>
            </a:r>
          </a:p>
          <a:p>
            <a:pPr>
              <a:defRPr sz="1800"/>
            </a:pPr>
            <a:r>
              <a:rPr b="1" dirty="0"/>
              <a:t>2. Study Scheduler: The 'Strategist' - Time-blocks learning.</a:t>
            </a:r>
          </a:p>
          <a:p>
            <a:pPr>
              <a:defRPr sz="1800"/>
            </a:pPr>
            <a:r>
              <a:rPr b="1" dirty="0"/>
              <a:t>3. Resource Finder: The 'Librarian' - Curates external content.</a:t>
            </a:r>
          </a:p>
          <a:p>
            <a:pPr>
              <a:defRPr sz="1800"/>
            </a:pPr>
            <a:r>
              <a:rPr b="1" dirty="0"/>
              <a:t>4. Quiz Generator: The 'Examiner' - Tests active recall.</a:t>
            </a:r>
          </a:p>
          <a:p>
            <a:pPr>
              <a:defRPr sz="1800"/>
            </a:pPr>
            <a:r>
              <a:rPr b="1" dirty="0"/>
              <a:t>5. Progress Tracker: The 'Analyst' - Forecasts performance.</a:t>
            </a:r>
          </a:p>
          <a:p>
            <a:pPr>
              <a:defRPr sz="1800"/>
            </a:pPr>
            <a:r>
              <a:rPr b="1" dirty="0"/>
              <a:t>6. Study Coordinator: The '</a:t>
            </a:r>
            <a:r>
              <a:rPr lang="en-US" b="1" i="0" dirty="0">
                <a:solidFill>
                  <a:srgbClr val="00B0F0"/>
                </a:solidFill>
                <a:effectLst/>
                <a:latin typeface="Segoe WPC"/>
              </a:rPr>
              <a:t> </a:t>
            </a:r>
            <a:r>
              <a:rPr lang="en-US" b="1" i="0" dirty="0">
                <a:effectLst/>
                <a:latin typeface="Segoe WPC"/>
              </a:rPr>
              <a:t>Coordinator</a:t>
            </a:r>
            <a:r>
              <a:rPr lang="en-US" b="1" i="0" dirty="0">
                <a:solidFill>
                  <a:srgbClr val="00B0F0"/>
                </a:solidFill>
                <a:effectLst/>
                <a:latin typeface="Segoe WPC"/>
              </a:rPr>
              <a:t> </a:t>
            </a:r>
            <a:r>
              <a:rPr b="1" dirty="0"/>
              <a:t>' - Compiles the final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6">
                    <a:lumMod val="75000"/>
                  </a:schemeClr>
                </a:solidFill>
              </a:rPr>
              <a:t>Roles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and 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6350"/>
          </a:xfrm>
        </p:spPr>
        <p:txBody>
          <a:bodyPr wrap="square">
            <a:normAutofit fontScale="70000" lnSpcReduction="20000"/>
          </a:bodyPr>
          <a:lstStyle/>
          <a:p>
            <a:endParaRPr lang="en-US" sz="2800" dirty="0"/>
          </a:p>
          <a:p>
            <a:pPr marL="0" indent="0">
              <a:buNone/>
              <a:defRPr sz="2400" b="1"/>
            </a:pPr>
            <a:r>
              <a:rPr lang="en-US" sz="2300" dirty="0">
                <a:solidFill>
                  <a:schemeClr val="accent6">
                    <a:lumMod val="75000"/>
                  </a:schemeClr>
                </a:solidFill>
              </a:rPr>
              <a:t>Note Summarizer:</a:t>
            </a:r>
          </a:p>
          <a:p>
            <a:pPr>
              <a:defRPr sz="2400" b="1"/>
            </a:pPr>
            <a:r>
              <a:rPr lang="en-US" sz="2300" dirty="0"/>
              <a:t>Goal: Extract 'Golden Truth' from noisy Pdfs.</a:t>
            </a:r>
          </a:p>
          <a:p>
            <a:pPr>
              <a:defRPr sz="2400" b="1"/>
            </a:pPr>
            <a:r>
              <a:rPr lang="en-US" sz="2300" dirty="0"/>
              <a:t>Task: Identify high-yield concepts, formulas &amp; definitions.</a:t>
            </a:r>
          </a:p>
          <a:p>
            <a:pPr marL="0" indent="0">
              <a:buNone/>
              <a:defRPr sz="2400" b="1"/>
            </a:pPr>
            <a:r>
              <a:rPr lang="en-US" sz="2300" dirty="0">
                <a:solidFill>
                  <a:schemeClr val="accent6">
                    <a:lumMod val="75000"/>
                  </a:schemeClr>
                </a:solidFill>
              </a:rPr>
              <a:t>Study Scheduler:</a:t>
            </a:r>
          </a:p>
          <a:p>
            <a:pPr>
              <a:defRPr sz="2400" b="1"/>
            </a:pPr>
            <a:r>
              <a:rPr lang="en-US" sz="2300" dirty="0"/>
              <a:t>Goal: Create 7-Day Exam Plan.</a:t>
            </a:r>
          </a:p>
          <a:p>
            <a:pPr>
              <a:defRPr sz="2400" b="1"/>
            </a:pPr>
            <a:r>
              <a:rPr lang="en-US" sz="2300" dirty="0"/>
              <a:t>Task: Map 'Golden Truth' to time blocks using Spaced Repetition.</a:t>
            </a:r>
          </a:p>
          <a:p>
            <a:pPr marL="0" indent="0">
              <a:buNone/>
              <a:defRPr sz="2400" b="1"/>
            </a:pPr>
            <a:r>
              <a:rPr lang="en-US" sz="2300" dirty="0">
                <a:solidFill>
                  <a:schemeClr val="accent6">
                    <a:lumMod val="75000"/>
                  </a:schemeClr>
                </a:solidFill>
              </a:rPr>
              <a:t>Resource Finder:</a:t>
            </a:r>
          </a:p>
          <a:p>
            <a:pPr>
              <a:defRPr sz="2400" b="1"/>
            </a:pPr>
            <a:r>
              <a:rPr lang="en-US" sz="2300" dirty="0"/>
              <a:t>Goal: Bridge knowledge gaps.</a:t>
            </a:r>
          </a:p>
          <a:p>
            <a:pPr>
              <a:defRPr sz="2400" b="1"/>
            </a:pPr>
            <a:r>
              <a:rPr lang="en-US" sz="2300" dirty="0"/>
              <a:t>Task: Scrape non-hallucinated URLs from trusted domains.</a:t>
            </a:r>
          </a:p>
          <a:p>
            <a:pPr marL="0" indent="0">
              <a:buNone/>
              <a:defRPr sz="2400" b="1"/>
            </a:pPr>
            <a:r>
              <a:rPr lang="en-US" sz="2300" b="1" dirty="0">
                <a:solidFill>
                  <a:schemeClr val="accent6">
                    <a:lumMod val="75000"/>
                  </a:schemeClr>
                </a:solidFill>
              </a:rPr>
              <a:t>Quiz Generator:</a:t>
            </a:r>
          </a:p>
          <a:p>
            <a:pPr>
              <a:defRPr sz="2400" b="1"/>
            </a:pPr>
            <a:r>
              <a:rPr lang="en-US" sz="2300" b="1" dirty="0"/>
              <a:t>Goal: Facilitate Active Recall.</a:t>
            </a:r>
          </a:p>
          <a:p>
            <a:pPr>
              <a:defRPr sz="2400" b="1"/>
            </a:pPr>
            <a:r>
              <a:rPr lang="en-US" sz="2300" b="1" dirty="0"/>
              <a:t>Task: Create questions based ONLY on the Summary.</a:t>
            </a:r>
          </a:p>
          <a:p>
            <a:pPr marL="0" indent="0">
              <a:buNone/>
              <a:defRPr sz="2400" b="1"/>
            </a:pPr>
            <a:r>
              <a:rPr lang="en-US" sz="2300" b="1" dirty="0">
                <a:solidFill>
                  <a:schemeClr val="accent6">
                    <a:lumMod val="75000"/>
                  </a:schemeClr>
                </a:solidFill>
              </a:rPr>
              <a:t>Progress Tracker:</a:t>
            </a:r>
          </a:p>
          <a:p>
            <a:pPr>
              <a:defRPr sz="2400" b="1"/>
            </a:pPr>
            <a:r>
              <a:rPr lang="en-US" sz="2300" b="1" dirty="0"/>
              <a:t>Goal: Forecast Performance.</a:t>
            </a:r>
          </a:p>
          <a:p>
            <a:pPr>
              <a:defRPr sz="2400" b="1"/>
            </a:pPr>
            <a:r>
              <a:rPr lang="en-US" sz="2300" b="1" dirty="0"/>
              <a:t>Task: Assign confidence scores (0-100%) to topics.</a:t>
            </a:r>
          </a:p>
          <a:p>
            <a:pPr marL="0" indent="0">
              <a:buNone/>
              <a:defRPr sz="2400" b="1"/>
            </a:pPr>
            <a:r>
              <a:rPr lang="en-US" sz="2300" b="1" dirty="0">
                <a:solidFill>
                  <a:schemeClr val="accent6">
                    <a:lumMod val="75000"/>
                  </a:schemeClr>
                </a:solidFill>
              </a:rPr>
              <a:t>Study Coordinator:</a:t>
            </a:r>
          </a:p>
          <a:p>
            <a:pPr>
              <a:defRPr sz="2400" b="1"/>
            </a:pPr>
            <a:r>
              <a:rPr lang="en-US" sz="2300" b="1" dirty="0"/>
              <a:t>Goal: Compilation &amp; Quality Assurance.</a:t>
            </a:r>
          </a:p>
          <a:p>
            <a:pPr>
              <a:defRPr sz="2400" b="1"/>
            </a:pPr>
            <a:r>
              <a:rPr lang="en-US" sz="2300" b="1" dirty="0"/>
              <a:t>Task: Aggregate all outputs into one cohesive Markdown report.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accent6">
                    <a:lumMod val="75000"/>
                  </a:schemeClr>
                </a:solidFill>
              </a:rPr>
              <a:t>Memory &amp;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 marL="0" indent="0">
              <a:buNone/>
              <a:defRPr sz="1800"/>
            </a:pPr>
            <a:r>
              <a:rPr b="1" dirty="0">
                <a:solidFill>
                  <a:srgbClr val="00B0F0"/>
                </a:solidFill>
              </a:rPr>
              <a:t>Communication</a:t>
            </a:r>
            <a:r>
              <a:rPr b="1" dirty="0"/>
              <a:t>:</a:t>
            </a:r>
          </a:p>
          <a:p>
            <a:pPr>
              <a:defRPr sz="1800"/>
            </a:pPr>
            <a:r>
              <a:rPr b="1" dirty="0"/>
              <a:t>Agents communicate via 'Context Sharing'.</a:t>
            </a:r>
          </a:p>
          <a:p>
            <a:pPr>
              <a:defRPr sz="1800"/>
            </a:pPr>
            <a:r>
              <a:rPr b="1" dirty="0"/>
              <a:t>Output of Agent A becomes Input for Agent B (Sequential Chain).</a:t>
            </a:r>
            <a:endParaRPr lang="en-US" b="1" dirty="0"/>
          </a:p>
          <a:p>
            <a:pPr>
              <a:defRPr sz="2400" b="1"/>
            </a:pPr>
            <a:r>
              <a:rPr lang="en-US" sz="1800" b="1" dirty="0"/>
              <a:t>Data is passed structurally.</a:t>
            </a:r>
          </a:p>
          <a:p>
            <a:pPr marL="0" indent="0">
              <a:buNone/>
              <a:defRPr sz="2400" b="1"/>
            </a:pPr>
            <a:r>
              <a:rPr lang="en-US" sz="1800" b="1" dirty="0">
                <a:solidFill>
                  <a:srgbClr val="00B0F0"/>
                </a:solidFill>
              </a:rPr>
              <a:t>Shared State:</a:t>
            </a:r>
          </a:p>
          <a:p>
            <a:pPr>
              <a:defRPr sz="2400" b="1"/>
            </a:pPr>
            <a:r>
              <a:rPr lang="en-US" sz="1800" b="1" dirty="0"/>
              <a:t>Global read-access to 'Topic' and 'Raw Notes'.</a:t>
            </a:r>
            <a:endParaRPr b="1" dirty="0"/>
          </a:p>
          <a:p>
            <a:pPr marL="0" indent="0">
              <a:buNone/>
              <a:defRPr sz="1800"/>
            </a:pPr>
            <a:r>
              <a:rPr b="1" dirty="0">
                <a:solidFill>
                  <a:srgbClr val="00B0F0"/>
                </a:solidFill>
              </a:rPr>
              <a:t>Memory</a:t>
            </a:r>
            <a:r>
              <a:rPr b="1" dirty="0"/>
              <a:t>:</a:t>
            </a:r>
            <a:r>
              <a:rPr lang="en-US" b="1" dirty="0"/>
              <a:t> </a:t>
            </a:r>
          </a:p>
          <a:p>
            <a:pPr marL="0" indent="0">
              <a:buNone/>
              <a:defRPr sz="1800"/>
            </a:pPr>
            <a:r>
              <a:rPr lang="en-US" b="0" i="0" dirty="0">
                <a:solidFill>
                  <a:srgbClr val="FF0000"/>
                </a:solidFill>
                <a:effectLst/>
                <a:latin typeface="Segoe WPC"/>
              </a:rPr>
              <a:t>!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Segoe WPC"/>
              </a:rPr>
              <a:t>CrewAI's</a:t>
            </a:r>
            <a:r>
              <a:rPr lang="en-US" b="0" i="0" dirty="0">
                <a:solidFill>
                  <a:srgbClr val="FF0000"/>
                </a:solidFill>
                <a:effectLst/>
                <a:latin typeface="Segoe WPC"/>
              </a:rPr>
              <a:t> built-in memory triggers extra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Segoe WPC"/>
              </a:rPr>
              <a:t>OpenAI</a:t>
            </a:r>
            <a:r>
              <a:rPr lang="en-US" dirty="0">
                <a:solidFill>
                  <a:srgbClr val="CCCCCC"/>
                </a:solidFill>
                <a:latin typeface="Segoe WPC"/>
              </a:rPr>
              <a:t> </a:t>
            </a:r>
            <a:r>
              <a:rPr lang="en-US" b="0" i="0" dirty="0">
                <a:solidFill>
                  <a:srgbClr val="FF0000"/>
                </a:solidFill>
                <a:effectLst/>
                <a:latin typeface="Segoe WPC"/>
              </a:rPr>
              <a:t>API calls and quota issues for me.</a:t>
            </a:r>
          </a:p>
          <a:p>
            <a:pPr marL="0" indent="0">
              <a:buNone/>
              <a:defRPr sz="1800"/>
            </a:pPr>
            <a:r>
              <a:rPr lang="en-US" dirty="0">
                <a:solidFill>
                  <a:srgbClr val="FF0000"/>
                </a:solidFill>
                <a:latin typeface="Segoe WPC"/>
              </a:rPr>
              <a:t>What I used instead?</a:t>
            </a:r>
            <a:endParaRPr b="1" dirty="0">
              <a:solidFill>
                <a:srgbClr val="FF0000"/>
              </a:solidFill>
            </a:endParaRPr>
          </a:p>
          <a:p>
            <a:pPr>
              <a:defRPr sz="1800"/>
            </a:pPr>
            <a:r>
              <a:rPr b="1" dirty="0"/>
              <a:t>Short-Term: Task context passed in RAM</a:t>
            </a:r>
            <a:r>
              <a:rPr lang="en-US" b="1" dirty="0"/>
              <a:t> </a:t>
            </a:r>
            <a:r>
              <a:rPr b="1" dirty="0"/>
              <a:t>.</a:t>
            </a:r>
          </a:p>
          <a:p>
            <a:pPr>
              <a:defRPr sz="1800"/>
            </a:pPr>
            <a:r>
              <a:rPr b="1" dirty="0"/>
              <a:t>Long-Term: '</a:t>
            </a:r>
            <a:r>
              <a:rPr b="1" dirty="0" err="1"/>
              <a:t>StudyMemory</a:t>
            </a:r>
            <a:r>
              <a:rPr b="1" dirty="0"/>
              <a:t>' class persists session logs to JSON/Files.</a:t>
            </a:r>
          </a:p>
          <a:p>
            <a:pPr>
              <a:defRPr sz="1800"/>
            </a:pPr>
            <a:r>
              <a:rPr b="1" dirty="0"/>
              <a:t>Shared Memory: All agents have read-access to the original 'Notes' and 'Topic'.</a:t>
            </a:r>
            <a:endParaRPr lang="en-US" b="1" dirty="0"/>
          </a:p>
          <a:p>
            <a:pPr>
              <a:defRPr sz="1800"/>
            </a:pPr>
            <a:r>
              <a:rPr lang="en-US" b="1" i="0" dirty="0">
                <a:effectLst/>
                <a:latin typeface="Segoe WPC"/>
              </a:rPr>
              <a:t>Vector Memory</a:t>
            </a:r>
            <a:r>
              <a:rPr lang="en-US" b="0" i="0" dirty="0">
                <a:effectLst/>
                <a:latin typeface="Segoe WPC"/>
              </a:rPr>
              <a:t>: Native integration with </a:t>
            </a:r>
            <a:r>
              <a:rPr lang="en-US" b="1" i="0" dirty="0">
                <a:effectLst/>
                <a:latin typeface="Segoe WPC"/>
              </a:rPr>
              <a:t>Google Embedding-001</a:t>
            </a:r>
            <a:r>
              <a:rPr lang="en-US" b="0" i="0" dirty="0">
                <a:effectLst/>
                <a:latin typeface="Segoe WPC"/>
              </a:rPr>
              <a:t> for internal semantic understanding,</a:t>
            </a:r>
            <a:endParaRPr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chemeClr val="accent6">
                    <a:lumMod val="75000"/>
                  </a:schemeClr>
                </a:solidFill>
              </a:rPr>
              <a:t>Workflow, Delegation &amp; Backtracking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 wrap="square"/>
          <a:lstStyle/>
          <a:p>
            <a:endParaRPr b="1" dirty="0"/>
          </a:p>
          <a:p>
            <a:pPr>
              <a:defRPr sz="1800"/>
            </a:pPr>
            <a:r>
              <a:rPr b="1" dirty="0"/>
              <a:t>Workflow: Sequential Process (Pre-defined chain).</a:t>
            </a:r>
          </a:p>
          <a:p>
            <a:pPr>
              <a:defRPr sz="1800"/>
            </a:pPr>
            <a:r>
              <a:rPr b="1" dirty="0"/>
              <a:t>Summary -&gt; Plan -&gt; Resources -&gt; Quiz -&gt; Analysis -&gt; Report.</a:t>
            </a:r>
          </a:p>
          <a:p>
            <a:pPr marL="0" indent="0">
              <a:buNone/>
              <a:defRPr sz="1800"/>
            </a:pPr>
            <a:r>
              <a:rPr b="1" dirty="0">
                <a:solidFill>
                  <a:srgbClr val="00B0F0"/>
                </a:solidFill>
              </a:rPr>
              <a:t>Delegation</a:t>
            </a:r>
            <a:r>
              <a:rPr b="1" dirty="0"/>
              <a:t>:</a:t>
            </a:r>
            <a:r>
              <a:rPr lang="en-US" b="1" dirty="0"/>
              <a:t> </a:t>
            </a:r>
          </a:p>
          <a:p>
            <a:pPr marL="0" indent="0">
              <a:buNone/>
              <a:defRPr sz="1800"/>
            </a:pPr>
            <a:r>
              <a:rPr lang="en-US" b="1" dirty="0">
                <a:solidFill>
                  <a:srgbClr val="7030A0"/>
                </a:solidFill>
              </a:rPr>
              <a:t>      </a:t>
            </a:r>
            <a:r>
              <a:rPr lang="en-US" b="1" dirty="0" err="1">
                <a:solidFill>
                  <a:srgbClr val="7030A0"/>
                </a:solidFill>
              </a:rPr>
              <a:t>allow_delegation</a:t>
            </a:r>
            <a:r>
              <a:rPr lang="en-US" b="1" dirty="0">
                <a:solidFill>
                  <a:srgbClr val="7030A0"/>
                </a:solidFill>
              </a:rPr>
              <a:t>=False</a:t>
            </a:r>
            <a:endParaRPr b="1" dirty="0">
              <a:solidFill>
                <a:srgbClr val="7030A0"/>
              </a:solidFill>
            </a:endParaRPr>
          </a:p>
          <a:p>
            <a:pPr>
              <a:defRPr sz="1800"/>
            </a:pPr>
            <a:r>
              <a:rPr b="1" dirty="0"/>
              <a:t>Static Delegation: Tasks are assigned at initialization.</a:t>
            </a:r>
            <a:endParaRPr lang="en-US" b="1" dirty="0"/>
          </a:p>
          <a:p>
            <a:pPr>
              <a:defRPr sz="1800"/>
            </a:pPr>
            <a:r>
              <a:rPr lang="en-US" b="1" i="0" dirty="0">
                <a:effectLst/>
                <a:latin typeface="Segoe WPC"/>
              </a:rPr>
              <a:t>This means the agents are "specialists" who stay in their lane. A Summarizer cannot dynamically decide to ask the Resource Finder for help during its execution.</a:t>
            </a:r>
            <a:endParaRPr b="1" dirty="0"/>
          </a:p>
          <a:p>
            <a:pPr marL="0" indent="0">
              <a:buNone/>
              <a:defRPr sz="1800"/>
            </a:pPr>
            <a:r>
              <a:rPr b="1" dirty="0">
                <a:solidFill>
                  <a:srgbClr val="00B0F0"/>
                </a:solidFill>
              </a:rPr>
              <a:t>Backtracking</a:t>
            </a:r>
            <a:r>
              <a:rPr b="1" dirty="0"/>
              <a:t>:</a:t>
            </a:r>
          </a:p>
          <a:p>
            <a:pPr>
              <a:defRPr sz="1800"/>
            </a:pPr>
            <a:r>
              <a:rPr b="1" dirty="0"/>
              <a:t>Current System: Linear (Forward-Chaining).</a:t>
            </a:r>
          </a:p>
          <a:p>
            <a:pPr>
              <a:defRPr sz="1800"/>
            </a:pPr>
            <a:r>
              <a:rPr b="1" dirty="0"/>
              <a:t>Capability: </a:t>
            </a:r>
            <a:r>
              <a:rPr b="1" dirty="0" err="1"/>
              <a:t>CrewAI</a:t>
            </a:r>
            <a:r>
              <a:rPr b="1" dirty="0"/>
              <a:t> typically supports loops, but we optimize for speed (Linear).</a:t>
            </a:r>
          </a:p>
          <a:p>
            <a:pPr>
              <a:defRPr sz="1800"/>
            </a:pPr>
            <a:r>
              <a:rPr b="1" dirty="0"/>
              <a:t>Error Handling: Agents self-correct formatting errors using LLM reflection.</a:t>
            </a:r>
            <a:r>
              <a:rPr lang="en-US" b="1" dirty="0"/>
              <a:t> By </a:t>
            </a:r>
            <a:r>
              <a:rPr lang="en-US" b="1" dirty="0" err="1">
                <a:solidFill>
                  <a:srgbClr val="FF0000"/>
                </a:solidFill>
              </a:rPr>
              <a:t>manager_llm</a:t>
            </a:r>
            <a:r>
              <a:rPr lang="en-US" b="1" dirty="0">
                <a:solidFill>
                  <a:srgbClr val="FF0000"/>
                </a:solidFill>
              </a:rPr>
              <a:t>  </a:t>
            </a:r>
          </a:p>
          <a:p>
            <a:pPr>
              <a:defRPr sz="1800"/>
            </a:pPr>
            <a:endParaRPr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5D38-3110-40F1-8DB0-89CF360B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5588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Execution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5C783-AA7F-4553-BF10-E7818AD39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8588"/>
            <a:ext cx="8229600" cy="4525963"/>
          </a:xfrm>
        </p:spPr>
        <p:txBody>
          <a:bodyPr>
            <a:normAutofit fontScale="62500" lnSpcReduction="20000"/>
          </a:bodyPr>
          <a:lstStyle/>
          <a:p>
            <a:endParaRPr lang="en-US" b="1" dirty="0"/>
          </a:p>
          <a:p>
            <a:pPr marL="0" indent="0">
              <a:buNone/>
              <a:defRPr sz="2400" b="1"/>
            </a:pPr>
            <a:r>
              <a:rPr lang="en-US" sz="2900" b="1" dirty="0">
                <a:latin typeface="+mj-lt"/>
              </a:rPr>
              <a:t>Execution Model: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b="1" i="0" dirty="0">
                <a:effectLst/>
                <a:latin typeface="+mj-lt"/>
              </a:rPr>
              <a:t>Hierarchical Process: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900" b="1" i="0" dirty="0">
                <a:effectLst/>
                <a:latin typeface="+mj-lt"/>
              </a:rPr>
              <a:t>Tasks are delegated and executed based on a structured chain of command.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900" b="1" i="0" dirty="0">
                <a:effectLst/>
                <a:latin typeface="+mj-lt"/>
              </a:rPr>
              <a:t>A manager language model (</a:t>
            </a:r>
            <a:r>
              <a:rPr lang="en-US" sz="2900" b="1" i="0" dirty="0" err="1">
                <a:effectLst/>
                <a:latin typeface="+mj-lt"/>
              </a:rPr>
              <a:t>manager_llm</a:t>
            </a:r>
            <a:r>
              <a:rPr lang="en-US" sz="2900" b="1" i="0" dirty="0">
                <a:effectLst/>
                <a:latin typeface="+mj-lt"/>
              </a:rPr>
              <a:t>) must be specified for the manager agent.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900" b="1" i="0" dirty="0">
                <a:effectLst/>
                <a:latin typeface="+mj-lt"/>
              </a:rPr>
              <a:t>Manager agent oversees task execution, planning, delegation, and validation.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900" b="1" i="0" dirty="0">
                <a:effectLst/>
                <a:latin typeface="+mj-lt"/>
              </a:rPr>
              <a:t>Tasks are not pre-assigned; the manager allocates tasks to agents based on their capabilities. Be for complex problems</a:t>
            </a:r>
            <a:endParaRPr lang="en-US" sz="2900" b="1" dirty="0">
              <a:latin typeface="+mj-lt"/>
            </a:endParaRPr>
          </a:p>
          <a:p>
            <a:pPr>
              <a:defRPr sz="2400" b="1"/>
            </a:pPr>
            <a:r>
              <a:rPr lang="en-US" sz="3400" b="1" dirty="0">
                <a:latin typeface="+mj-lt"/>
              </a:rPr>
              <a:t>Sequential Process (Blocking Chain).</a:t>
            </a:r>
            <a:r>
              <a:rPr lang="en-US" sz="3400" b="1" i="0" dirty="0">
                <a:effectLst/>
                <a:latin typeface="+mj-lt"/>
              </a:rPr>
              <a:t> Tasks are executed one after another, ensuring tasks are completed in an orderly progression.</a:t>
            </a:r>
            <a:endParaRPr lang="en-US" sz="3400" b="1" dirty="0">
              <a:latin typeface="+mj-lt"/>
            </a:endParaRPr>
          </a:p>
          <a:p>
            <a:pPr marL="0" indent="0">
              <a:buNone/>
              <a:defRPr sz="2400" b="1"/>
            </a:pPr>
            <a:r>
              <a:rPr lang="en-US" sz="3400" b="1" dirty="0">
                <a:solidFill>
                  <a:srgbClr val="7030A0"/>
                </a:solidFill>
              </a:rPr>
              <a:t>                 process=</a:t>
            </a:r>
            <a:r>
              <a:rPr lang="en-US" sz="3400" b="1" dirty="0" err="1">
                <a:solidFill>
                  <a:srgbClr val="7030A0"/>
                </a:solidFill>
              </a:rPr>
              <a:t>Process.sequential</a:t>
            </a:r>
            <a:endParaRPr lang="en-US" sz="3400" b="1" dirty="0">
              <a:solidFill>
                <a:srgbClr val="7030A0"/>
              </a:solidFill>
            </a:endParaRPr>
          </a:p>
          <a:p>
            <a:pPr>
              <a:defRPr sz="2400" b="1"/>
            </a:pPr>
            <a:r>
              <a:rPr lang="en-US" sz="3400" b="1" i="0" dirty="0">
                <a:solidFill>
                  <a:srgbClr val="00B0F0"/>
                </a:solidFill>
                <a:effectLst/>
                <a:latin typeface="Segoe WPC"/>
              </a:rPr>
              <a:t>logical chain (Summarizer → Scheduler → Finder → Quizzer → Tracker → Coordinator).</a:t>
            </a:r>
            <a:endParaRPr lang="en-US" sz="3400" b="1" dirty="0">
              <a:solidFill>
                <a:srgbClr val="00B0F0"/>
              </a:solidFill>
            </a:endParaRPr>
          </a:p>
          <a:p>
            <a:pPr>
              <a:defRPr sz="2400" b="1"/>
            </a:pPr>
            <a:r>
              <a:rPr lang="en-US" sz="3400" b="1" dirty="0"/>
              <a:t>Ensures data integrity (Plan depends on Summary).</a:t>
            </a:r>
          </a:p>
        </p:txBody>
      </p:sp>
    </p:spTree>
    <p:extLst>
      <p:ext uri="{BB962C8B-B14F-4D97-AF65-F5344CB8AC3E}">
        <p14:creationId xmlns:p14="http://schemas.microsoft.com/office/powerpoint/2010/main" val="3927559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42B-20AF-441C-AA20-1A52CECDA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Thread Pools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0B97-CE46-4FB7-A423-91E1BE5A2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 b="1"/>
            </a:pPr>
            <a:r>
              <a:rPr lang="en-US" sz="2000" dirty="0">
                <a:latin typeface="+mj-lt"/>
              </a:rPr>
              <a:t>Thread </a:t>
            </a:r>
            <a:r>
              <a:rPr lang="en-US" sz="2000" dirty="0" err="1">
                <a:latin typeface="+mj-lt"/>
              </a:rPr>
              <a:t>Pools:</a:t>
            </a:r>
            <a:r>
              <a:rPr lang="en-US" sz="2000" dirty="0" err="1">
                <a:effectLst/>
                <a:latin typeface="+mj-lt"/>
              </a:rPr>
              <a:t>parallelizing</a:t>
            </a:r>
            <a:r>
              <a:rPr lang="en-US" sz="2000" dirty="0">
                <a:latin typeface="+mj-lt"/>
              </a:rPr>
              <a:t> agent workflows and managing </a:t>
            </a:r>
            <a:r>
              <a:rPr lang="en-US" sz="2000" dirty="0">
                <a:effectLst/>
                <a:latin typeface="+mj-lt"/>
              </a:rPr>
              <a:t>I/O-bound tasks</a:t>
            </a:r>
            <a:r>
              <a:rPr lang="en-US" sz="2000" dirty="0">
                <a:latin typeface="+mj-lt"/>
              </a:rPr>
              <a:t> like API calls to Large Language Models (LLMs)</a:t>
            </a:r>
            <a:r>
              <a:rPr lang="en-US" sz="2000" i="0" dirty="0">
                <a:effectLst/>
                <a:latin typeface="+mj-lt"/>
              </a:rPr>
              <a:t>.</a:t>
            </a:r>
            <a:endParaRPr lang="en-US" sz="2000" dirty="0">
              <a:latin typeface="+mj-lt"/>
            </a:endParaRPr>
          </a:p>
          <a:p>
            <a:pPr>
              <a:defRPr sz="2400" b="1"/>
            </a:pPr>
            <a:r>
              <a:rPr lang="en-US" sz="2000" dirty="0">
                <a:latin typeface="+mj-lt"/>
              </a:rPr>
              <a:t>Framework: </a:t>
            </a:r>
            <a:r>
              <a:rPr lang="en-US" sz="2000" dirty="0" err="1">
                <a:latin typeface="+mj-lt"/>
              </a:rPr>
              <a:t>LangChain</a:t>
            </a:r>
            <a:r>
              <a:rPr lang="en-US" sz="2000" dirty="0">
                <a:latin typeface="+mj-lt"/>
              </a:rPr>
              <a:t>/</a:t>
            </a:r>
            <a:r>
              <a:rPr lang="en-US" sz="2000" dirty="0" err="1">
                <a:latin typeface="+mj-lt"/>
              </a:rPr>
              <a:t>CrewAI</a:t>
            </a:r>
            <a:r>
              <a:rPr lang="en-US" sz="2000" dirty="0">
                <a:latin typeface="+mj-lt"/>
              </a:rPr>
              <a:t> internal executors.</a:t>
            </a:r>
          </a:p>
          <a:p>
            <a:pPr>
              <a:defRPr sz="2400" b="1"/>
            </a:pPr>
            <a:r>
              <a:rPr lang="en-US" sz="2000" dirty="0">
                <a:latin typeface="+mj-lt"/>
              </a:rPr>
              <a:t>Usage: </a:t>
            </a:r>
            <a:r>
              <a:rPr lang="en-US" sz="2000" dirty="0" err="1">
                <a:latin typeface="+mj-lt"/>
              </a:rPr>
              <a:t>ThreadPoolExecutor</a:t>
            </a:r>
            <a:r>
              <a:rPr lang="en-US" sz="2000" dirty="0">
                <a:latin typeface="+mj-lt"/>
              </a:rPr>
              <a:t> handles independent Tool calls </a:t>
            </a:r>
          </a:p>
          <a:p>
            <a:pPr marL="0" indent="0">
              <a:buNone/>
              <a:defRPr sz="2400" b="1"/>
            </a:pPr>
            <a:r>
              <a:rPr lang="en-US" sz="2000" dirty="0">
                <a:latin typeface="+mj-lt"/>
              </a:rPr>
              <a:t>Like   Web Search,</a:t>
            </a:r>
            <a:r>
              <a:rPr lang="en-US" sz="2000" i="0" dirty="0">
                <a:effectLst/>
                <a:latin typeface="+mj-lt"/>
              </a:rPr>
              <a:t> </a:t>
            </a:r>
          </a:p>
          <a:p>
            <a:pPr marL="0" indent="0">
              <a:buNone/>
              <a:defRPr sz="2400" b="1"/>
            </a:pPr>
            <a:r>
              <a:rPr lang="en-US" sz="2000" i="0" dirty="0">
                <a:effectLst/>
                <a:latin typeface="+mj-lt"/>
              </a:rPr>
              <a:t>	  Real-Time Log Streaming, </a:t>
            </a:r>
          </a:p>
          <a:p>
            <a:pPr marL="0" indent="0">
              <a:buNone/>
              <a:defRPr sz="2400" b="1"/>
            </a:pPr>
            <a:r>
              <a:rPr lang="en-US" sz="2000" i="0" dirty="0">
                <a:effectLst/>
                <a:latin typeface="+mj-lt"/>
              </a:rPr>
              <a:t>	  Background Resource Handling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374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6">
                    <a:lumMod val="75000"/>
                  </a:schemeClr>
                </a:solidFill>
              </a:rP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b="1" dirty="0"/>
          </a:p>
          <a:p>
            <a:pPr>
              <a:defRPr sz="1800"/>
            </a:pPr>
            <a:r>
              <a:rPr b="1" dirty="0"/>
              <a:t>Framework: </a:t>
            </a:r>
            <a:r>
              <a:rPr b="1" dirty="0" err="1"/>
              <a:t>CrewAI</a:t>
            </a:r>
            <a:r>
              <a:rPr b="1" dirty="0"/>
              <a:t> (builds on </a:t>
            </a:r>
            <a:r>
              <a:rPr b="1" dirty="0" err="1"/>
              <a:t>LangChain</a:t>
            </a:r>
            <a:r>
              <a:rPr b="1" dirty="0"/>
              <a:t>).</a:t>
            </a:r>
          </a:p>
          <a:p>
            <a:pPr>
              <a:defRPr sz="1800"/>
            </a:pPr>
            <a:r>
              <a:rPr b="1" dirty="0"/>
              <a:t>Brain: Google Gemini Flash.</a:t>
            </a:r>
          </a:p>
          <a:p>
            <a:pPr>
              <a:defRPr sz="1800"/>
            </a:pPr>
            <a:r>
              <a:rPr b="1" dirty="0"/>
              <a:t>Backend: </a:t>
            </a:r>
            <a:r>
              <a:rPr b="1" dirty="0" err="1"/>
              <a:t>FastAPI</a:t>
            </a:r>
            <a:r>
              <a:rPr b="1" dirty="0"/>
              <a:t> (Python 3.10+).</a:t>
            </a:r>
          </a:p>
          <a:p>
            <a:pPr marL="0" indent="0">
              <a:buNone/>
              <a:defRPr sz="1800"/>
            </a:pPr>
            <a:r>
              <a:rPr b="1" dirty="0">
                <a:solidFill>
                  <a:srgbClr val="00B0F0"/>
                </a:solidFill>
              </a:rPr>
              <a:t>Tools:</a:t>
            </a:r>
          </a:p>
          <a:p>
            <a:pPr>
              <a:defRPr sz="1800"/>
            </a:pPr>
            <a:r>
              <a:rPr b="1" dirty="0" err="1"/>
              <a:t>FileReadTool</a:t>
            </a:r>
            <a:r>
              <a:rPr b="1" dirty="0"/>
              <a:t>: For reading user notes.</a:t>
            </a:r>
          </a:p>
          <a:p>
            <a:pPr>
              <a:defRPr sz="1800"/>
            </a:pPr>
            <a:r>
              <a:rPr b="1" dirty="0" err="1"/>
              <a:t>SearchTool</a:t>
            </a:r>
            <a:r>
              <a:rPr b="1" dirty="0"/>
              <a:t>: For finding </a:t>
            </a:r>
            <a:r>
              <a:rPr lang="en-US" b="1" dirty="0"/>
              <a:t>external </a:t>
            </a:r>
            <a:r>
              <a:rPr b="1" dirty="0"/>
              <a:t>resources.</a:t>
            </a:r>
          </a:p>
          <a:p>
            <a:pPr>
              <a:defRPr sz="1800"/>
            </a:pPr>
            <a:r>
              <a:rPr b="1" dirty="0"/>
              <a:t>Custom Memory Tools.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6AD10-C677-44B9-B2CF-8225BEB4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Challenge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B1734-9C80-4CFA-9106-143E72F63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Rate limit </a:t>
            </a:r>
            <a:r>
              <a:rPr lang="en-US" b="1" dirty="0" err="1"/>
              <a:t>qouta</a:t>
            </a:r>
            <a:r>
              <a:rPr lang="en-US" b="1" dirty="0"/>
              <a:t> for Gemini API KEY</a:t>
            </a:r>
          </a:p>
          <a:p>
            <a:r>
              <a:rPr lang="en-US" b="1" dirty="0"/>
              <a:t>Execution speed OF THE LLM API call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 Solution :used 2 API keys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9661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E04D5-1BA5-4C7B-98F3-BB2524EF3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8263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751928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852</Words>
  <Application>Microsoft Office PowerPoint</Application>
  <PresentationFormat>On-screen Show (4:3)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-apple-system</vt:lpstr>
      <vt:lpstr>Arial</vt:lpstr>
      <vt:lpstr>Calibri</vt:lpstr>
      <vt:lpstr>Segoe WPC</vt:lpstr>
      <vt:lpstr>Office Theme</vt:lpstr>
      <vt:lpstr>SmartStudy Agent System</vt:lpstr>
      <vt:lpstr>Definitions &amp; Core Concepts</vt:lpstr>
      <vt:lpstr>SmartStudy Agent  Overview</vt:lpstr>
      <vt:lpstr>The 6 Agents</vt:lpstr>
      <vt:lpstr>Roles and Goals</vt:lpstr>
      <vt:lpstr>Memory &amp; Communication</vt:lpstr>
      <vt:lpstr>Workflow, Delegation &amp; Backtracking</vt:lpstr>
      <vt:lpstr>Execution </vt:lpstr>
      <vt:lpstr>Thread Pools</vt:lpstr>
      <vt:lpstr>Technical Stack</vt:lpstr>
      <vt:lpstr>Challenge 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SmartStudy Agent System Analysis</dc:title>
  <dc:subject/>
  <dc:creator>haile tassew</dc:creator>
  <cp:keywords/>
  <dc:description>generated using python-pptx</dc:description>
  <cp:lastModifiedBy>haile tassew</cp:lastModifiedBy>
  <cp:revision>19</cp:revision>
  <dcterms:created xsi:type="dcterms:W3CDTF">2013-01-27T09:14:16Z</dcterms:created>
  <dcterms:modified xsi:type="dcterms:W3CDTF">2026-02-06T11:34:13Z</dcterms:modified>
  <cp:category/>
</cp:coreProperties>
</file>